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handoutMasterIdLst>
    <p:handoutMasterId r:id="rId11"/>
  </p:handoutMasterIdLst>
  <p:sldIdLst>
    <p:sldId id="256" r:id="rId2"/>
    <p:sldId id="257" r:id="rId3"/>
    <p:sldId id="275" r:id="rId4"/>
    <p:sldId id="258" r:id="rId5"/>
    <p:sldId id="276" r:id="rId6"/>
    <p:sldId id="277" r:id="rId7"/>
    <p:sldId id="278" r:id="rId8"/>
    <p:sldId id="279" r:id="rId9"/>
    <p:sldId id="269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703"/>
    <p:restoredTop sz="94694"/>
  </p:normalViewPr>
  <p:slideViewPr>
    <p:cSldViewPr snapToGrid="0" snapToObjects="1">
      <p:cViewPr varScale="1">
        <p:scale>
          <a:sx n="146" d="100"/>
          <a:sy n="146" d="100"/>
        </p:scale>
        <p:origin x="5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52C9C9F-45B0-CF48-8065-55FECDAF788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E1D255-3D8B-5847-8573-45ED078D958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EB294F-7AA8-0C48-883B-228BCD4E5DD5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B79B95-97E5-7B43-99CF-A518ECF3D8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CDE643-2E3B-2C4C-9046-6CF71939631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7BBA79-B11D-9E47-B16A-594C9D24D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3133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B8F101A-5762-A94D-B26B-936FC3619C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E7FE075-03B1-DD4E-87E4-E09C192AC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B8F101A-5762-A94D-B26B-936FC3619C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pic>
        <p:nvPicPr>
          <p:cNvPr id="9" name="Picture 8" descr="University of Pittsburgh logo">
            <a:extLst>
              <a:ext uri="{FF2B5EF4-FFF2-40B4-BE49-F238E27FC236}">
                <a16:creationId xmlns:a16="http://schemas.microsoft.com/office/drawing/2014/main" id="{8B013691-8D26-4542-AFA1-4EDE6C821E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3143" y="4682233"/>
            <a:ext cx="1164202" cy="345988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8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B8F101A-5762-A94D-B26B-936FC3619C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61566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B8F101A-5762-A94D-B26B-936FC3619C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8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47D06B4-5506-174C-9A07-A878C0E93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B8F101A-5762-A94D-B26B-936FC3619C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pic>
        <p:nvPicPr>
          <p:cNvPr id="10" name="Picture 9" descr="University of Pittsburgh logo">
            <a:extLst>
              <a:ext uri="{FF2B5EF4-FFF2-40B4-BE49-F238E27FC236}">
                <a16:creationId xmlns:a16="http://schemas.microsoft.com/office/drawing/2014/main" id="{524D8868-6F87-7F4A-A18A-D1521129F43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3143" y="4682233"/>
            <a:ext cx="1164202" cy="34598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7178"/>
            <a:ext cx="7886700" cy="88083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811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B8F101A-5762-A94D-B26B-936FC3619C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478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B8F101A-5762-A94D-B26B-936FC3619C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0353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5AD34BD-12C4-5F44-8339-E46CD182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B8F101A-5762-A94D-B26B-936FC3619C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pic>
        <p:nvPicPr>
          <p:cNvPr id="9" name="Picture 8" descr="University of Pittsburgh logo">
            <a:extLst>
              <a:ext uri="{FF2B5EF4-FFF2-40B4-BE49-F238E27FC236}">
                <a16:creationId xmlns:a16="http://schemas.microsoft.com/office/drawing/2014/main" id="{8FB54C92-F728-7C4D-86D1-CB3CA927AF8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3143" y="4682233"/>
            <a:ext cx="1164202" cy="34598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8703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934070"/>
            <a:ext cx="7886700" cy="883968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57220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B8F101A-5762-A94D-B26B-936FC3619C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80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B8F101A-5762-A94D-B26B-936FC3619C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7179"/>
            <a:ext cx="4629150" cy="400861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459" y="387178"/>
            <a:ext cx="2951560" cy="1155872"/>
          </a:xfrm>
        </p:spPr>
        <p:txBody>
          <a:bodyPr anchor="t" anchorCtr="0"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4398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5B30872-3172-7F47-9CA2-4EEA37BB9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B8F101A-5762-A94D-B26B-936FC3619C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pic>
        <p:nvPicPr>
          <p:cNvPr id="11" name="Picture 10" descr="University of Pittsburgh logo">
            <a:extLst>
              <a:ext uri="{FF2B5EF4-FFF2-40B4-BE49-F238E27FC236}">
                <a16:creationId xmlns:a16="http://schemas.microsoft.com/office/drawing/2014/main" id="{1B26784D-45E3-B64D-B092-32BDD63D51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3143" y="4682233"/>
            <a:ext cx="1164202" cy="34598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7179"/>
            <a:ext cx="4629150" cy="400861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459" y="387178"/>
            <a:ext cx="2951560" cy="1155872"/>
          </a:xfrm>
        </p:spPr>
        <p:txBody>
          <a:bodyPr anchor="t" anchorCtr="0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9651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B8F101A-5762-A94D-B26B-936FC3619C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280087"/>
            <a:ext cx="4629150" cy="411570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6605" y="1543050"/>
            <a:ext cx="3142414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605" y="280086"/>
            <a:ext cx="3142414" cy="1262964"/>
          </a:xfrm>
        </p:spPr>
        <p:txBody>
          <a:bodyPr anchor="t" anchorCtr="0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881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University of Pittsburgh logo">
            <a:extLst>
              <a:ext uri="{FF2B5EF4-FFF2-40B4-BE49-F238E27FC236}">
                <a16:creationId xmlns:a16="http://schemas.microsoft.com/office/drawing/2014/main" id="{2BC37A7C-69F5-DE4D-A4B3-61C8019C4F9D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3143" y="4682233"/>
            <a:ext cx="1164202" cy="345988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84048"/>
            <a:ext cx="7886700" cy="88396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43914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74" r:id="rId3"/>
    <p:sldLayoutId id="2147483662" r:id="rId4"/>
    <p:sldLayoutId id="2147483672" r:id="rId5"/>
    <p:sldLayoutId id="2147483663" r:id="rId6"/>
    <p:sldLayoutId id="2147483664" r:id="rId7"/>
    <p:sldLayoutId id="2147483676" r:id="rId8"/>
    <p:sldLayoutId id="2147483666" r:id="rId9"/>
    <p:sldLayoutId id="2147483667" r:id="rId10"/>
    <p:sldLayoutId id="2147483675" r:id="rId11"/>
    <p:sldLayoutId id="2147483668" r:id="rId12"/>
    <p:sldLayoutId id="2147483669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tx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tx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27D9085-070E-2946-9BEF-08CF29519C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9858" y="807414"/>
            <a:ext cx="5316583" cy="616438"/>
          </a:xfrm>
        </p:spPr>
        <p:txBody>
          <a:bodyPr/>
          <a:lstStyle/>
          <a:p>
            <a:pPr algn="l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food/ quick service</a:t>
            </a:r>
          </a:p>
          <a:p>
            <a:pPr algn="l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casual </a:t>
            </a:r>
          </a:p>
          <a:p>
            <a:pPr algn="l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dining</a:t>
            </a:r>
          </a:p>
          <a:p>
            <a:pPr algn="l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Casual/ casual themed</a:t>
            </a:r>
          </a:p>
          <a:p>
            <a:pPr algn="l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Upscale</a:t>
            </a:r>
          </a:p>
          <a:p>
            <a:pPr algn="l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 dining</a:t>
            </a:r>
          </a:p>
          <a:p>
            <a:pPr algn="l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Business/ institutional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9BECA-E0EE-5843-A53B-B2F30C77D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195" y="172931"/>
            <a:ext cx="4049486" cy="490162"/>
          </a:xfrm>
        </p:spPr>
        <p:txBody>
          <a:bodyPr/>
          <a:lstStyle/>
          <a:p>
            <a:r>
              <a:rPr lang="en-US" sz="2400" dirty="0"/>
              <a:t>Restaurant Segment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31C299-26F6-3D8F-3AF6-2DCECB414F40}"/>
              </a:ext>
            </a:extLst>
          </p:cNvPr>
          <p:cNvSpPr txBox="1"/>
          <p:nvPr/>
        </p:nvSpPr>
        <p:spPr>
          <a:xfrm>
            <a:off x="3814354" y="1071154"/>
            <a:ext cx="165513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level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 variety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types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D5CE4B-7930-8DBB-BF78-9ECC08C2A848}"/>
              </a:ext>
            </a:extLst>
          </p:cNvPr>
          <p:cNvSpPr txBox="1"/>
          <p:nvPr/>
        </p:nvSpPr>
        <p:spPr>
          <a:xfrm>
            <a:off x="467145" y="3191693"/>
            <a:ext cx="766107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Ha, J. and Jang, S.S. (2012), “Consumer dining value: does it vary across different restaurant segments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expectations/ values based on restaurant segment?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(just food, emotional value, knowledge through dining)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Specified in certain segment (casual dining, fast food)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on some mutual attributes (e.g. working satisfaction factors in central California)</a:t>
            </a:r>
          </a:p>
        </p:txBody>
      </p:sp>
    </p:spTree>
    <p:extLst>
      <p:ext uri="{BB962C8B-B14F-4D97-AF65-F5344CB8AC3E}">
        <p14:creationId xmlns:p14="http://schemas.microsoft.com/office/powerpoint/2010/main" val="554401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03E000B-74E9-524B-BE5D-0E08E9305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6439657" y="2655554"/>
            <a:ext cx="4396994" cy="6321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F82FDF-3B88-B046-ABAA-6E7C77C62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7359526" y="3985033"/>
            <a:ext cx="1495879" cy="237508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27D9085-070E-2946-9BEF-08CF29519C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897" y="929334"/>
            <a:ext cx="6858000" cy="1241822"/>
          </a:xfrm>
        </p:spPr>
        <p:txBody>
          <a:bodyPr/>
          <a:lstStyle/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of restaurant success </a:t>
            </a:r>
          </a:p>
          <a:p>
            <a:pPr algn="l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Mamalis, S. (2009), “Critical success factors of the food service industry”, Journal of International Food &amp; Agribusiness Marketing, Vol. 21 Nos 2/3, pp. 191-206. (Empirical)</a:t>
            </a:r>
          </a:p>
          <a:p>
            <a:pPr algn="l"/>
            <a:r>
              <a:rPr lang="en-US" sz="1600" b="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(a)Adaptation to Locality, (b) Service, (c) Facilities, (d) Food Quality, (e) Place to Be, and (g) Sales Incentive Program</a:t>
            </a:r>
          </a:p>
          <a:p>
            <a:pPr algn="l"/>
            <a:r>
              <a:rPr lang="en-US" sz="11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Mandabach</a:t>
            </a:r>
            <a:r>
              <a:rPr lang="en-US" sz="11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K.H., Siddiqui, M.A., Blanch, G.F. and </a:t>
            </a:r>
            <a:r>
              <a:rPr lang="en-US" sz="11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Vanleeuwen</a:t>
            </a:r>
            <a:r>
              <a:rPr lang="en-US" sz="11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D.M. (2011), “Restaurant viability: operations rating of contributing success factors”, Journal of Culinary Science &amp; Technology, Vol. 9, pp. 71-84</a:t>
            </a:r>
            <a:r>
              <a:rPr 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served</a:t>
            </a:r>
          </a:p>
          <a:p>
            <a:pPr algn="l"/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</a:p>
          <a:p>
            <a:pPr algn="l"/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management of restaurant</a:t>
            </a:r>
          </a:p>
          <a:p>
            <a:pPr algn="l"/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 goals and philosophies </a:t>
            </a:r>
            <a:endParaRPr lang="en-US" sz="1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9BECA-E0EE-5843-A53B-B2F30C77D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188" y="317821"/>
            <a:ext cx="4482737" cy="455329"/>
          </a:xfrm>
        </p:spPr>
        <p:txBody>
          <a:bodyPr/>
          <a:lstStyle/>
          <a:p>
            <a:r>
              <a:rPr lang="en-US" sz="2400" dirty="0"/>
              <a:t>Restaurant Operation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574E3C-8835-B263-291F-177E81A1F930}"/>
              </a:ext>
            </a:extLst>
          </p:cNvPr>
          <p:cNvSpPr txBox="1"/>
          <p:nvPr/>
        </p:nvSpPr>
        <p:spPr>
          <a:xfrm>
            <a:off x="3535679" y="2828108"/>
            <a:ext cx="14761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Labor market retirement family issues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933C58-6721-5731-4E52-52F2DF66ED60}"/>
              </a:ext>
            </a:extLst>
          </p:cNvPr>
          <p:cNvSpPr txBox="1"/>
          <p:nvPr/>
        </p:nvSpPr>
        <p:spPr>
          <a:xfrm>
            <a:off x="447041" y="4085588"/>
            <a:ext cx="3826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for justification in introduction</a:t>
            </a:r>
          </a:p>
        </p:txBody>
      </p:sp>
    </p:spTree>
    <p:extLst>
      <p:ext uri="{BB962C8B-B14F-4D97-AF65-F5344CB8AC3E}">
        <p14:creationId xmlns:p14="http://schemas.microsoft.com/office/powerpoint/2010/main" val="1404613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03E000B-74E9-524B-BE5D-0E08E9305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6439657" y="2655554"/>
            <a:ext cx="4396994" cy="6321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F82FDF-3B88-B046-ABAA-6E7C77C62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7359526" y="3985033"/>
            <a:ext cx="1495879" cy="237508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27D9085-070E-2946-9BEF-08CF29519C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897" y="929334"/>
            <a:ext cx="6858000" cy="1241822"/>
          </a:xfrm>
        </p:spPr>
        <p:txBody>
          <a:bodyPr/>
          <a:lstStyle/>
          <a:p>
            <a:pPr algn="l"/>
            <a:r>
              <a:rPr lang="en-US" sz="1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Technology used in operations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Self-service 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Inventory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Reservation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Marketing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Back of the house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Sales analysis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Information and communication technology</a:t>
            </a:r>
          </a:p>
          <a:p>
            <a:pPr algn="l"/>
            <a:r>
              <a:rPr lang="en-US" sz="1400" b="1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Depend on the success level of the restaurant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9BECA-E0EE-5843-A53B-B2F30C77D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188" y="317821"/>
            <a:ext cx="4482737" cy="455329"/>
          </a:xfrm>
        </p:spPr>
        <p:txBody>
          <a:bodyPr/>
          <a:lstStyle/>
          <a:p>
            <a:r>
              <a:rPr lang="en-US" sz="2400" dirty="0"/>
              <a:t>Restaurant Operation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933C58-6721-5731-4E52-52F2DF66ED60}"/>
              </a:ext>
            </a:extLst>
          </p:cNvPr>
          <p:cNvSpPr txBox="1"/>
          <p:nvPr/>
        </p:nvSpPr>
        <p:spPr>
          <a:xfrm>
            <a:off x="367211" y="3815622"/>
            <a:ext cx="38266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for justification in introduction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make restaurant green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(Interview based)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CE5375-731E-AAD0-9E1C-51E4AFF2E6F0}"/>
              </a:ext>
            </a:extLst>
          </p:cNvPr>
          <p:cNvSpPr txBox="1"/>
          <p:nvPr/>
        </p:nvSpPr>
        <p:spPr>
          <a:xfrm>
            <a:off x="4354286" y="929334"/>
            <a:ext cx="4886274" cy="3631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CSR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restaurant adopt (attitude)</a:t>
            </a:r>
          </a:p>
          <a:p>
            <a:r>
              <a:rPr lang="en-US" sz="11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Green practices in the restaurant industry from an innovation adoption perspective: </a:t>
            </a:r>
          </a:p>
          <a:p>
            <a:r>
              <a:rPr lang="en-US" sz="11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Evidence from Taiwan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TPB, innovation adoption theory </a:t>
            </a:r>
          </a:p>
          <a:p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cial Psychology, behavioral science, sociology)</a:t>
            </a:r>
            <a:endParaRPr lang="en-US" sz="1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customers concern</a:t>
            </a:r>
          </a:p>
          <a:p>
            <a:r>
              <a:rPr lang="en-US" sz="11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Green practices in upscale foodservice operations: </a:t>
            </a:r>
          </a:p>
          <a:p>
            <a:r>
              <a:rPr lang="en-US" sz="11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Customer perceptions and purchase intentions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(ANOVA, correlation)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need to be trained to make green happen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 easier 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428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CD01A70-2F9F-DB42-92A2-F7EB4D1DF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3328" y="-33348"/>
            <a:ext cx="9244371" cy="5176848"/>
          </a:xfrm>
          <a:prstGeom prst="rect">
            <a:avLst/>
          </a:prstGeom>
        </p:spPr>
      </p:pic>
      <p:pic>
        <p:nvPicPr>
          <p:cNvPr id="9" name="Picture 8" descr="University of Pittsburgh logo">
            <a:extLst>
              <a:ext uri="{FF2B5EF4-FFF2-40B4-BE49-F238E27FC236}">
                <a16:creationId xmlns:a16="http://schemas.microsoft.com/office/drawing/2014/main" id="{07E6651D-43BB-1046-8494-93F88919A7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3143" y="4682233"/>
            <a:ext cx="1164202" cy="345988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27D9085-070E-2946-9BEF-08CF29519C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148" y="850957"/>
            <a:ext cx="5401491" cy="281158"/>
          </a:xfrm>
        </p:spPr>
        <p:txBody>
          <a:bodyPr/>
          <a:lstStyle/>
          <a:p>
            <a:pPr algn="l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Foundation: restaurants have to sell experiences to customers</a:t>
            </a:r>
          </a:p>
          <a:p>
            <a:pPr algn="l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quality evaluation metrics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SERVQUAL</a:t>
            </a:r>
          </a:p>
          <a:p>
            <a:pPr algn="l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DINSERV</a:t>
            </a:r>
          </a:p>
          <a:p>
            <a:pPr algn="l"/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 choice of outcome/ justification</a:t>
            </a:r>
          </a:p>
          <a:p>
            <a:pPr algn="l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Namkung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 and Jang, S. (2008), “Are highly satisfied restaurant customers really different? A quality perception perspective”, International Journal of Contemporary Hospitality Management, Vol. 20 No. 2, pp. 142-155.</a:t>
            </a:r>
          </a:p>
          <a:p>
            <a:pPr algn="l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LR, mid-upscale restaurant</a:t>
            </a:r>
          </a:p>
          <a:p>
            <a:pPr algn="l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 time perception </a:t>
            </a:r>
          </a:p>
          <a:p>
            <a:pPr algn="l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Bae, G. and Kim, D.Y. (2014), “The effects of offering menu information on perceived waiting time”, Journal of Hospitality Marketing &amp; Management, Vol. 23 No. 7, pp. 746-767.</a:t>
            </a:r>
          </a:p>
          <a:p>
            <a:pPr algn="l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DOE, menu information to distract waiting tine perception</a:t>
            </a:r>
          </a:p>
          <a:p>
            <a:pPr algn="l"/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9BECA-E0EE-5843-A53B-B2F30C77D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629" y="209004"/>
            <a:ext cx="3219994" cy="481455"/>
          </a:xfrm>
        </p:spPr>
        <p:txBody>
          <a:bodyPr/>
          <a:lstStyle/>
          <a:p>
            <a:r>
              <a:rPr lang="en-US" sz="2400" dirty="0"/>
              <a:t>Service Quality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1B2FE-0B15-3772-8F8E-FD0C49C2545F}"/>
              </a:ext>
            </a:extLst>
          </p:cNvPr>
          <p:cNvSpPr txBox="1"/>
          <p:nvPr/>
        </p:nvSpPr>
        <p:spPr>
          <a:xfrm>
            <a:off x="5578879" y="344544"/>
            <a:ext cx="3751348" cy="3354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recovery research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this happen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Ways to deal with failure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(financial, connection, coupons)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management </a:t>
            </a:r>
          </a:p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Guchait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P.,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Pasamehmetoglu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and Lanza-Abbott, J. (2015),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importance of error management culture in organizations: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impact on employee helping behaviors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service failures and recoveries in restaurants”,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Journal of Human Resources in Hospitality &amp; Tourism,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Vol. 14 No. 1, pp. 45-67.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linear regression analysis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indicates positive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Perceived service fairness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Restaurant evaluation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4 factors/ 3 factors model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441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CD01A70-2F9F-DB42-92A2-F7EB4D1DF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0186" y="-33348"/>
            <a:ext cx="9244371" cy="5176848"/>
          </a:xfrm>
          <a:prstGeom prst="rect">
            <a:avLst/>
          </a:prstGeom>
        </p:spPr>
      </p:pic>
      <p:pic>
        <p:nvPicPr>
          <p:cNvPr id="9" name="Picture 8" descr="University of Pittsburgh logo">
            <a:extLst>
              <a:ext uri="{FF2B5EF4-FFF2-40B4-BE49-F238E27FC236}">
                <a16:creationId xmlns:a16="http://schemas.microsoft.com/office/drawing/2014/main" id="{07E6651D-43BB-1046-8494-93F88919A7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3143" y="4682233"/>
            <a:ext cx="1164202" cy="345988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27D9085-070E-2946-9BEF-08CF29519C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629" y="792232"/>
            <a:ext cx="5401491" cy="281158"/>
          </a:xfrm>
        </p:spPr>
        <p:txBody>
          <a:bodyPr/>
          <a:lstStyle/>
          <a:p>
            <a:pPr algn="l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management</a:t>
            </a:r>
          </a:p>
          <a:p>
            <a:pPr algn="l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Management in a Dynamic Network Environment Dimitris Bertsimas • Ioana Popescu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airlines, hotels, and car rentals, which need to allocate their limited, perishable inventories to various market segments to maximize total revenues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 dynamic policies for allocating scarce inventory to stochastic demand across multiple fare classes in a network environment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 and analyze a new algorithm based on approximate </a:t>
            </a: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algorithm uses adaptive, non-additive bid prices derived from a linear programming relaxation.</a:t>
            </a:r>
          </a:p>
          <a:p>
            <a:pPr algn="l"/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to follow</a:t>
            </a:r>
          </a:p>
          <a:p>
            <a:pPr algn="l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Kimes, S.E. and Wirtz, J. (2002), “Perceived fairness of demand-based pricing for restaurants”, Cornell Hotel and Restaurant Administration Quarterly, Vol. 43 No. 1, pp. 31-37.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 differently during a day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9BECA-E0EE-5843-A53B-B2F30C77D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629" y="209004"/>
            <a:ext cx="3219994" cy="481455"/>
          </a:xfrm>
        </p:spPr>
        <p:txBody>
          <a:bodyPr/>
          <a:lstStyle/>
          <a:p>
            <a:pPr algn="l"/>
            <a:r>
              <a:rPr lang="en-US" sz="2400" dirty="0"/>
              <a:t>Finance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C3CF72-D66A-DB7F-FCB9-BBCB0553A935}"/>
              </a:ext>
            </a:extLst>
          </p:cNvPr>
          <p:cNvSpPr txBox="1"/>
          <p:nvPr/>
        </p:nvSpPr>
        <p:spPr>
          <a:xfrm>
            <a:off x="5216434" y="650197"/>
            <a:ext cx="3900427" cy="43242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 pricing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Engineering)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pricing strategy/ activity-based costing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Yang, C.Y. and Chang, T.Y. (2011),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“Binomial real option pricing for restaurant menu analysis”,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Cornell Hospitality Quarterly, Vol. 52 No. 3, pp. 273-282.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with previous profit-analysis techniques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(popularity, profitability),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time factors (in replacing)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data for 5 entrees in 52 weeks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data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(bootstrap method)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future sales  binomial lattice with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Binomial real option pricing model/ analysis 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Futural profitability/ risk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(initial sales cash inflow &amp;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the risk-neutral probability of future sales changes)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Room to follow up</a:t>
            </a:r>
          </a:p>
        </p:txBody>
      </p:sp>
    </p:spTree>
    <p:extLst>
      <p:ext uri="{BB962C8B-B14F-4D97-AF65-F5344CB8AC3E}">
        <p14:creationId xmlns:p14="http://schemas.microsoft.com/office/powerpoint/2010/main" val="3648930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CD01A70-2F9F-DB42-92A2-F7EB4D1DF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0186" y="0"/>
            <a:ext cx="9244371" cy="5176848"/>
          </a:xfrm>
          <a:prstGeom prst="rect">
            <a:avLst/>
          </a:prstGeom>
        </p:spPr>
      </p:pic>
      <p:pic>
        <p:nvPicPr>
          <p:cNvPr id="9" name="Picture 8" descr="University of Pittsburgh logo">
            <a:extLst>
              <a:ext uri="{FF2B5EF4-FFF2-40B4-BE49-F238E27FC236}">
                <a16:creationId xmlns:a16="http://schemas.microsoft.com/office/drawing/2014/main" id="{07E6651D-43BB-1046-8494-93F88919A7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3143" y="4682233"/>
            <a:ext cx="1164202" cy="345988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27D9085-070E-2946-9BEF-08CF29519C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3143" y="792232"/>
            <a:ext cx="5401491" cy="281158"/>
          </a:xfrm>
        </p:spPr>
        <p:txBody>
          <a:bodyPr/>
          <a:lstStyle/>
          <a:p>
            <a:pPr algn="l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 design </a:t>
            </a:r>
          </a:p>
          <a:p>
            <a:pPr algn="l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McCall, M. and Lynn, A. (2008), “The effects of restaurant menu item descriptions on perceptions of quality, price, and purchase intention”, Journal of Foodservice Business Research, Vol. 11 No. 4, pp. 439-445.</a:t>
            </a:r>
          </a:p>
          <a:p>
            <a:pPr algn="l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 description in customer perception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promoting</a:t>
            </a:r>
          </a:p>
          <a:p>
            <a:pPr algn="l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Hur, J.Y. and Jang, S.S. (2015), “Consumers’ inference-dynamics about healthy menu promotions in a bundle context”, International Journal of Hospitality Management, Vol. 44, pp. 12-22.</a:t>
            </a:r>
          </a:p>
          <a:p>
            <a:pPr algn="l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menu bundle, composition, position &amp; healthy claims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customer perception  promotion</a:t>
            </a:r>
          </a:p>
          <a:p>
            <a:pPr algn="l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Coupon usage</a:t>
            </a:r>
          </a:p>
          <a:p>
            <a:pPr algn="l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Little relation with return, quality of food and service instead</a:t>
            </a:r>
          </a:p>
          <a:p>
            <a:pPr algn="l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Marketing</a:t>
            </a:r>
          </a:p>
          <a:p>
            <a:pPr algn="l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Robinson, C., Abbott, J. and Shoemaker, S. (2005), “Recreating cheers: an analysis of relationship marketing as an effective marketing technique for quick-service restaurants”, International Journal of Contemporary Hospitality Management, Vol. 17 No. 7, pp. 590-599.</a:t>
            </a:r>
          </a:p>
          <a:p>
            <a:pPr algn="l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Ads, brand attachment</a:t>
            </a:r>
          </a:p>
          <a:p>
            <a:pPr algn="l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9BECA-E0EE-5843-A53B-B2F30C77D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629" y="209004"/>
            <a:ext cx="3219994" cy="481455"/>
          </a:xfrm>
        </p:spPr>
        <p:txBody>
          <a:bodyPr/>
          <a:lstStyle/>
          <a:p>
            <a:pPr algn="l"/>
            <a:r>
              <a:rPr lang="en-US" sz="2400" dirty="0"/>
              <a:t>Marketing</a:t>
            </a:r>
          </a:p>
        </p:txBody>
      </p:sp>
    </p:spTree>
    <p:extLst>
      <p:ext uri="{BB962C8B-B14F-4D97-AF65-F5344CB8AC3E}">
        <p14:creationId xmlns:p14="http://schemas.microsoft.com/office/powerpoint/2010/main" val="2758632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CD01A70-2F9F-DB42-92A2-F7EB4D1DF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3328" y="-16674"/>
            <a:ext cx="9244371" cy="5176848"/>
          </a:xfrm>
          <a:prstGeom prst="rect">
            <a:avLst/>
          </a:prstGeom>
        </p:spPr>
      </p:pic>
      <p:pic>
        <p:nvPicPr>
          <p:cNvPr id="9" name="Picture 8" descr="University of Pittsburgh logo">
            <a:extLst>
              <a:ext uri="{FF2B5EF4-FFF2-40B4-BE49-F238E27FC236}">
                <a16:creationId xmlns:a16="http://schemas.microsoft.com/office/drawing/2014/main" id="{07E6651D-43BB-1046-8494-93F88919A7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3143" y="4682233"/>
            <a:ext cx="1164202" cy="345988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27D9085-070E-2946-9BEF-08CF29519C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143" y="916137"/>
            <a:ext cx="8864503" cy="281158"/>
          </a:xfrm>
        </p:spPr>
        <p:txBody>
          <a:bodyPr/>
          <a:lstStyle/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Safety:Standards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Training: The importance of maintaining food safety standards in the foodservice industry, as highlighted by Sandler (1978).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Awareness and Perceptions: The growing consumer awareness of food safety and the need for diligence in restaurants (York et al., 2009; Knight et al., 2007).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Training and Barriers: The impact of training and interventions on improving food safety practices among employees (York et al., 2009).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Leadership and Organizational Commitment: The role of leadership styles in influencing employee attitudes towards food safety (Lee et al., 2013). 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 vs. Non-Chain Restaurants: Differences in food safety violations between chain and non-chain restaurants (Harris et al., 2014).</a:t>
            </a:r>
          </a:p>
          <a:p>
            <a:pPr algn="l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Healthfulness:Consumer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Perceptions: How consumers perceive the healthfulness of restaurant menus and their willingness to pay for healthier options (Lee and McCleary, 2013; Alexander et al., 2010).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Nutritional Information and Menu Design: The impact of nutritional labeling and menu design on consumer choices and behavior (Davis et al., 2014; Yang et al., 2015;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Wansink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Love, 2014).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9BECA-E0EE-5843-A53B-B2F30C77D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629" y="209004"/>
            <a:ext cx="5440520" cy="481455"/>
          </a:xfrm>
        </p:spPr>
        <p:txBody>
          <a:bodyPr/>
          <a:lstStyle/>
          <a:p>
            <a:r>
              <a:rPr lang="en-US" sz="2400" dirty="0"/>
              <a:t>Food safety and healthfulness</a:t>
            </a:r>
          </a:p>
        </p:txBody>
      </p:sp>
    </p:spTree>
    <p:extLst>
      <p:ext uri="{BB962C8B-B14F-4D97-AF65-F5344CB8AC3E}">
        <p14:creationId xmlns:p14="http://schemas.microsoft.com/office/powerpoint/2010/main" val="1765200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CD01A70-2F9F-DB42-92A2-F7EB4D1DF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3328" y="-16674"/>
            <a:ext cx="9244371" cy="5176848"/>
          </a:xfrm>
          <a:prstGeom prst="rect">
            <a:avLst/>
          </a:prstGeom>
        </p:spPr>
      </p:pic>
      <p:pic>
        <p:nvPicPr>
          <p:cNvPr id="9" name="Picture 8" descr="University of Pittsburgh logo">
            <a:extLst>
              <a:ext uri="{FF2B5EF4-FFF2-40B4-BE49-F238E27FC236}">
                <a16:creationId xmlns:a16="http://schemas.microsoft.com/office/drawing/2014/main" id="{07E6651D-43BB-1046-8494-93F88919A7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3143" y="4682233"/>
            <a:ext cx="1164202" cy="345988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27D9085-070E-2946-9BEF-08CF29519C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143" y="775558"/>
            <a:ext cx="8864503" cy="281158"/>
          </a:xfrm>
        </p:spPr>
        <p:txBody>
          <a:bodyPr/>
          <a:lstStyle/>
          <a:p>
            <a:pPr algn="l"/>
            <a:r>
              <a:rPr lang="en-US" sz="11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Measuring and optimizing inventory management processes for Restaurant X Megi </a:t>
            </a:r>
            <a:r>
              <a:rPr lang="en-US" sz="11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Koco</a:t>
            </a:r>
            <a:endParaRPr lang="en-US" sz="11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financial years 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related cost, materials planning, purchasing, receiving, storing, picking, and moving inventory into production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Qualitative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Methods:Interviews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Five face-to-face interviews.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On-the-Field Observations: Direct observations of inventory processes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Data Analysis: Financial data from the company's internal records for FY17 and FY18 were analyzed to calculate total inventory-related costs and determine the efficiency of inventory management processes.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Measurements: inventory turnover ratio, inventory holding period, and cost ratios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EOQ model</a:t>
            </a:r>
          </a:p>
          <a:p>
            <a:pPr algn="l"/>
            <a:r>
              <a:rPr lang="en-US" sz="11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 Policy Control Using a Continuous Review Model Based on Information Systems: A Case Study in a Restaurant Industry </a:t>
            </a:r>
            <a:r>
              <a:rPr lang="en-US" sz="11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Ichsan</a:t>
            </a:r>
            <a:r>
              <a:rPr lang="en-US" sz="11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Sarafi1, Laila Nafisah1, Ahmad Muhsin1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material from 3 branches, supplier, lead time, storage cost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review model, determine ROP, Q, moving avg, exponential smoothing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mtethods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MAD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best forecast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SDLC  information system implementation, convert various material into a common unit, iterative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cal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using Hadley-Within, real-time monitoring and automate reorder calculation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9BECA-E0EE-5843-A53B-B2F30C77D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629" y="209004"/>
            <a:ext cx="5440520" cy="481455"/>
          </a:xfrm>
        </p:spPr>
        <p:txBody>
          <a:bodyPr/>
          <a:lstStyle/>
          <a:p>
            <a:pPr algn="l"/>
            <a:r>
              <a:rPr lang="en-US" sz="2400" dirty="0"/>
              <a:t>I</a:t>
            </a:r>
            <a:r>
              <a:rPr lang="en-US" altLang="zh-CN" sz="2400" dirty="0"/>
              <a:t>nventory management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4614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13A3AA9-5A7D-B64E-B760-985D731B2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5969" y="4136820"/>
            <a:ext cx="1702941" cy="8099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9D1829-AE04-6941-A112-5295CD311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6868" y="3927422"/>
            <a:ext cx="2357468" cy="3743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AB220E-45B4-AB41-BBC5-70E29FE83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4402" y="1237931"/>
            <a:ext cx="1589302" cy="165114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D7B639B-A42C-E44C-8059-809576EF12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Ending Slide</a:t>
            </a:r>
          </a:p>
        </p:txBody>
      </p:sp>
    </p:spTree>
    <p:extLst>
      <p:ext uri="{BB962C8B-B14F-4D97-AF65-F5344CB8AC3E}">
        <p14:creationId xmlns:p14="http://schemas.microsoft.com/office/powerpoint/2010/main" val="1902041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0">
      <a:dk1>
        <a:srgbClr val="003493"/>
      </a:dk1>
      <a:lt1>
        <a:srgbClr val="FFFFFF"/>
      </a:lt1>
      <a:dk2>
        <a:srgbClr val="00205B"/>
      </a:dk2>
      <a:lt2>
        <a:srgbClr val="FFB71B"/>
      </a:lt2>
      <a:accent1>
        <a:srgbClr val="B48400"/>
      </a:accent1>
      <a:accent2>
        <a:srgbClr val="49C1E0"/>
      </a:accent2>
      <a:accent3>
        <a:srgbClr val="96989A"/>
      </a:accent3>
      <a:accent4>
        <a:srgbClr val="000000"/>
      </a:accent4>
      <a:accent5>
        <a:srgbClr val="DB5729"/>
      </a:accent5>
      <a:accent6>
        <a:srgbClr val="008163"/>
      </a:accent6>
      <a:hlink>
        <a:srgbClr val="05E5FF"/>
      </a:hlink>
      <a:folHlink>
        <a:srgbClr val="00DBDC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629</TotalTime>
  <Words>1433</Words>
  <Application>Microsoft Office PowerPoint</Application>
  <PresentationFormat>On-screen Show (16:9)</PresentationFormat>
  <Paragraphs>147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Times New Roman</vt:lpstr>
      <vt:lpstr>Office Theme</vt:lpstr>
      <vt:lpstr>Restaurant Segment</vt:lpstr>
      <vt:lpstr>Restaurant Operation</vt:lpstr>
      <vt:lpstr>Restaurant Operation</vt:lpstr>
      <vt:lpstr>Service Quality</vt:lpstr>
      <vt:lpstr>Finance</vt:lpstr>
      <vt:lpstr>Marketing</vt:lpstr>
      <vt:lpstr>Food safety and healthfulness</vt:lpstr>
      <vt:lpstr>Inventory management </vt:lpstr>
      <vt:lpstr>Ending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Dudley, Jane</dc:creator>
  <cp:lastModifiedBy>Hu, Tianyi</cp:lastModifiedBy>
  <cp:revision>65</cp:revision>
  <cp:lastPrinted>2019-07-18T13:58:01Z</cp:lastPrinted>
  <dcterms:created xsi:type="dcterms:W3CDTF">2019-07-18T12:44:10Z</dcterms:created>
  <dcterms:modified xsi:type="dcterms:W3CDTF">2024-05-15T15:56:13Z</dcterms:modified>
</cp:coreProperties>
</file>